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117b1982014ec6" /><Relationship Type="http://schemas.openxmlformats.org/officeDocument/2006/relationships/extended-properties" Target="/docProps/app.xml" Id="R462348127def4431" /><Relationship Type="http://schemas.openxmlformats.org/officeDocument/2006/relationships/officeDocument" Target="/ppt/presentation.xml" Id="Rf121f0e79523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804d4bb19948ae"/>
  </p:sldMasterIdLst>
  <p:notesMasterIdLst>
    <p:notesMasterId xmlns:r="http://schemas.openxmlformats.org/officeDocument/2006/relationships" r:id="Rca59415c0709418d"/>
  </p:notesMasterIdLst>
  <p:sldIdLst>
    <p:sldId xmlns:r="http://schemas.openxmlformats.org/officeDocument/2006/relationships" id="256" r:id="R516bedf6fd994108"/>
    <p:sldId xmlns:r="http://schemas.openxmlformats.org/officeDocument/2006/relationships" id="257" r:id="Re1d7afd9b0d04dc6"/>
    <p:sldId xmlns:r="http://schemas.openxmlformats.org/officeDocument/2006/relationships" id="258" r:id="R33a559f65b164ac2"/>
    <p:sldId xmlns:r="http://schemas.openxmlformats.org/officeDocument/2006/relationships" id="259" r:id="R5a906c90bf8c492c"/>
    <p:sldId xmlns:r="http://schemas.openxmlformats.org/officeDocument/2006/relationships" id="260" r:id="R582c0484a8c34feb"/>
    <p:sldId xmlns:r="http://schemas.openxmlformats.org/officeDocument/2006/relationships" id="261" r:id="R3ee5e75bc9ab42ca"/>
    <p:sldId xmlns:r="http://schemas.openxmlformats.org/officeDocument/2006/relationships" id="262" r:id="Rd898800b89d74ba9"/>
    <p:sldId xmlns:r="http://schemas.openxmlformats.org/officeDocument/2006/relationships" id="263" r:id="R8bb290c03dcd4d33"/>
    <p:sldId xmlns:r="http://schemas.openxmlformats.org/officeDocument/2006/relationships" id="264" r:id="Re1453365aa524f34"/>
    <p:sldId xmlns:r="http://schemas.openxmlformats.org/officeDocument/2006/relationships" id="265" r:id="R1b31ed0e90104e0e"/>
    <p:sldId xmlns:r="http://schemas.openxmlformats.org/officeDocument/2006/relationships" id="266" r:id="Ra75f5da114c94ff3"/>
    <p:sldId xmlns:r="http://schemas.openxmlformats.org/officeDocument/2006/relationships" id="267" r:id="Rf4662c8578604a0f"/>
    <p:sldId xmlns:r="http://schemas.openxmlformats.org/officeDocument/2006/relationships" id="268" r:id="Rc3f123e5717647b9"/>
    <p:sldId xmlns:r="http://schemas.openxmlformats.org/officeDocument/2006/relationships" id="269" r:id="R2f127dba461c4a6b"/>
    <p:sldId xmlns:r="http://schemas.openxmlformats.org/officeDocument/2006/relationships" id="270" r:id="R3c4d5ee49aeb4ac4"/>
    <p:sldId xmlns:r="http://schemas.openxmlformats.org/officeDocument/2006/relationships" id="271" r:id="R675cdad7229c42e5"/>
    <p:sldId xmlns:r="http://schemas.openxmlformats.org/officeDocument/2006/relationships" id="272" r:id="R352a9ba13e1348a5"/>
    <p:sldId xmlns:r="http://schemas.openxmlformats.org/officeDocument/2006/relationships" id="273" r:id="R1ab00bfbe9cf4b9a"/>
    <p:sldId xmlns:r="http://schemas.openxmlformats.org/officeDocument/2006/relationships" id="274" r:id="R786ca18477f24b67"/>
    <p:sldId xmlns:r="http://schemas.openxmlformats.org/officeDocument/2006/relationships" id="275" r:id="R9ec7c164047a4bcd"/>
    <p:sldId xmlns:r="http://schemas.openxmlformats.org/officeDocument/2006/relationships" id="276" r:id="Re197b6a5188f48ef"/>
    <p:sldId xmlns:r="http://schemas.openxmlformats.org/officeDocument/2006/relationships" id="277" r:id="Rfe52b29d54f046ce"/>
    <p:sldId xmlns:r="http://schemas.openxmlformats.org/officeDocument/2006/relationships" id="278" r:id="R78ca23457aad4f05"/>
    <p:sldId xmlns:r="http://schemas.openxmlformats.org/officeDocument/2006/relationships" id="279" r:id="Rd0a7963022e540e0"/>
    <p:sldId xmlns:r="http://schemas.openxmlformats.org/officeDocument/2006/relationships" id="280" r:id="Refa9a87522dc4272"/>
    <p:sldId xmlns:r="http://schemas.openxmlformats.org/officeDocument/2006/relationships" id="281" r:id="R9c30aa623a504ded"/>
    <p:sldId xmlns:r="http://schemas.openxmlformats.org/officeDocument/2006/relationships" id="282" r:id="Rc22e105eff804714"/>
    <p:sldId xmlns:r="http://schemas.openxmlformats.org/officeDocument/2006/relationships" id="283" r:id="R84a3473155c343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c44b48d68d4b31" /><Relationship Type="http://schemas.openxmlformats.org/officeDocument/2006/relationships/slideMaster" Target="/ppt/slideMasters/slideMaster1.xml" Id="R57804d4bb19948ae" /><Relationship Type="http://schemas.openxmlformats.org/officeDocument/2006/relationships/notesMaster" Target="/ppt/notesMasters/notesMaster1.xml" Id="Rca59415c0709418d" /><Relationship Type="http://schemas.openxmlformats.org/officeDocument/2006/relationships/presProps" Target="/ppt/presProps.xml" Id="Rd6d542c37c4d4846" /><Relationship Type="http://schemas.openxmlformats.org/officeDocument/2006/relationships/tableStyles" Target="/ppt/tableStyles.xml" Id="R7d7cd175e23b4abd" /><Relationship Type="http://schemas.openxmlformats.org/officeDocument/2006/relationships/slide" Target="/ppt/slides/slide1.xml" Id="R516bedf6fd994108" /><Relationship Type="http://schemas.openxmlformats.org/officeDocument/2006/relationships/slide" Target="/ppt/slides/slide2.xml" Id="Re1d7afd9b0d04dc6" /><Relationship Type="http://schemas.openxmlformats.org/officeDocument/2006/relationships/slide" Target="/ppt/slides/slide3.xml" Id="R33a559f65b164ac2" /><Relationship Type="http://schemas.openxmlformats.org/officeDocument/2006/relationships/slide" Target="/ppt/slides/slide4.xml" Id="R5a906c90bf8c492c" /><Relationship Type="http://schemas.openxmlformats.org/officeDocument/2006/relationships/slide" Target="/ppt/slides/slide5.xml" Id="R582c0484a8c34feb" /><Relationship Type="http://schemas.openxmlformats.org/officeDocument/2006/relationships/slide" Target="/ppt/slides/slide6.xml" Id="R3ee5e75bc9ab42ca" /><Relationship Type="http://schemas.openxmlformats.org/officeDocument/2006/relationships/slide" Target="/ppt/slides/slide7.xml" Id="Rd898800b89d74ba9" /><Relationship Type="http://schemas.openxmlformats.org/officeDocument/2006/relationships/slide" Target="/ppt/slides/slide8.xml" Id="R8bb290c03dcd4d33" /><Relationship Type="http://schemas.openxmlformats.org/officeDocument/2006/relationships/slide" Target="/ppt/slides/slide9.xml" Id="Re1453365aa524f34" /><Relationship Type="http://schemas.openxmlformats.org/officeDocument/2006/relationships/slide" Target="/ppt/slides/slide10.xml" Id="R1b31ed0e90104e0e" /><Relationship Type="http://schemas.openxmlformats.org/officeDocument/2006/relationships/slide" Target="/ppt/slides/slide11.xml" Id="Ra75f5da114c94ff3" /><Relationship Type="http://schemas.openxmlformats.org/officeDocument/2006/relationships/slide" Target="/ppt/slides/slide12.xml" Id="Rf4662c8578604a0f" /><Relationship Type="http://schemas.openxmlformats.org/officeDocument/2006/relationships/slide" Target="/ppt/slides/slide13.xml" Id="Rc3f123e5717647b9" /><Relationship Type="http://schemas.openxmlformats.org/officeDocument/2006/relationships/slide" Target="/ppt/slides/slide14.xml" Id="R2f127dba461c4a6b" /><Relationship Type="http://schemas.openxmlformats.org/officeDocument/2006/relationships/slide" Target="/ppt/slides/slide15.xml" Id="R3c4d5ee49aeb4ac4" /><Relationship Type="http://schemas.openxmlformats.org/officeDocument/2006/relationships/slide" Target="/ppt/slides/slide16.xml" Id="R675cdad7229c42e5" /><Relationship Type="http://schemas.openxmlformats.org/officeDocument/2006/relationships/slide" Target="/ppt/slides/slide17.xml" Id="R352a9ba13e1348a5" /><Relationship Type="http://schemas.openxmlformats.org/officeDocument/2006/relationships/slide" Target="/ppt/slides/slide18.xml" Id="R1ab00bfbe9cf4b9a" /><Relationship Type="http://schemas.openxmlformats.org/officeDocument/2006/relationships/slide" Target="/ppt/slides/slide19.xml" Id="R786ca18477f24b67" /><Relationship Type="http://schemas.openxmlformats.org/officeDocument/2006/relationships/slide" Target="/ppt/slides/slide20.xml" Id="R9ec7c164047a4bcd" /><Relationship Type="http://schemas.openxmlformats.org/officeDocument/2006/relationships/slide" Target="/ppt/slides/slide21.xml" Id="Re197b6a5188f48ef" /><Relationship Type="http://schemas.openxmlformats.org/officeDocument/2006/relationships/slide" Target="/ppt/slides/slide22.xml" Id="Rfe52b29d54f046ce" /><Relationship Type="http://schemas.openxmlformats.org/officeDocument/2006/relationships/slide" Target="/ppt/slides/slide23.xml" Id="R78ca23457aad4f05" /><Relationship Type="http://schemas.openxmlformats.org/officeDocument/2006/relationships/slide" Target="/ppt/slides/slide24.xml" Id="Rd0a7963022e540e0" /><Relationship Type="http://schemas.openxmlformats.org/officeDocument/2006/relationships/slide" Target="/ppt/slides/slide25.xml" Id="Refa9a87522dc4272" /><Relationship Type="http://schemas.openxmlformats.org/officeDocument/2006/relationships/slide" Target="/ppt/slides/slide26.xml" Id="R9c30aa623a504ded" /><Relationship Type="http://schemas.openxmlformats.org/officeDocument/2006/relationships/slide" Target="/ppt/slides/slide27.xml" Id="Rc22e105eff804714" /><Relationship Type="http://schemas.openxmlformats.org/officeDocument/2006/relationships/slide" Target="/ppt/slides/slide28.xml" Id="R84a3473155c343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0f8bc982844b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572bedf56447b" /><Relationship Type="http://schemas.openxmlformats.org/officeDocument/2006/relationships/notesMaster" Target="/ppt/notesMasters/notesMaster1.xml" Id="R95f26bde0139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1f01ff69df4610" /><Relationship Type="http://schemas.openxmlformats.org/officeDocument/2006/relationships/notesMaster" Target="/ppt/notesMasters/notesMaster1.xml" Id="R6e836626cd3947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43568ed5a4e04" /><Relationship Type="http://schemas.openxmlformats.org/officeDocument/2006/relationships/notesMaster" Target="/ppt/notesMasters/notesMaster1.xml" Id="R7f9bb1699883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bcae0d37104810" /><Relationship Type="http://schemas.openxmlformats.org/officeDocument/2006/relationships/notesMaster" Target="/ppt/notesMasters/notesMaster1.xml" Id="R1746b7496621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e51d549f04486" /><Relationship Type="http://schemas.openxmlformats.org/officeDocument/2006/relationships/notesMaster" Target="/ppt/notesMasters/notesMaster1.xml" Id="Re12e2a2bc86a4a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b4722d0a424b44" /><Relationship Type="http://schemas.openxmlformats.org/officeDocument/2006/relationships/notesMaster" Target="/ppt/notesMasters/notesMaster1.xml" Id="Rc8f7335eafc446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778bd0aab742a8" /><Relationship Type="http://schemas.openxmlformats.org/officeDocument/2006/relationships/notesMaster" Target="/ppt/notesMasters/notesMaster1.xml" Id="R507d9908dfcd4b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d394e331564613" /><Relationship Type="http://schemas.openxmlformats.org/officeDocument/2006/relationships/notesMaster" Target="/ppt/notesMasters/notesMaster1.xml" Id="R3b7dbefd053844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f737bce4941f4" /><Relationship Type="http://schemas.openxmlformats.org/officeDocument/2006/relationships/notesMaster" Target="/ppt/notesMasters/notesMaster1.xml" Id="R0451379efab84c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9624992404d5f" /><Relationship Type="http://schemas.openxmlformats.org/officeDocument/2006/relationships/notesMaster" Target="/ppt/notesMasters/notesMaster1.xml" Id="Rd772e048fb3945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c9771fc6434567" /><Relationship Type="http://schemas.openxmlformats.org/officeDocument/2006/relationships/notesMaster" Target="/ppt/notesMasters/notesMaster1.xml" Id="R26da7f12d62b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c054815e534015" /><Relationship Type="http://schemas.openxmlformats.org/officeDocument/2006/relationships/notesMaster" Target="/ppt/notesMasters/notesMaster1.xml" Id="R7f10eb0ac78244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29ae0ccb0e4844" /><Relationship Type="http://schemas.openxmlformats.org/officeDocument/2006/relationships/notesMaster" Target="/ppt/notesMasters/notesMaster1.xml" Id="R60d0bc93df1849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81db17d9124fd6" /><Relationship Type="http://schemas.openxmlformats.org/officeDocument/2006/relationships/notesMaster" Target="/ppt/notesMasters/notesMaster1.xml" Id="Rbdeee43c061b4b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4abf02638d446c" /><Relationship Type="http://schemas.openxmlformats.org/officeDocument/2006/relationships/notesMaster" Target="/ppt/notesMasters/notesMaster1.xml" Id="R66faeff7766e4d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3bdeef30004091" /><Relationship Type="http://schemas.openxmlformats.org/officeDocument/2006/relationships/notesMaster" Target="/ppt/notesMasters/notesMaster1.xml" Id="Re4eccf6c830f43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82db69c2e543eb" /><Relationship Type="http://schemas.openxmlformats.org/officeDocument/2006/relationships/notesMaster" Target="/ppt/notesMasters/notesMaster1.xml" Id="R60baff6d5f6947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03865f8297411a" /><Relationship Type="http://schemas.openxmlformats.org/officeDocument/2006/relationships/notesMaster" Target="/ppt/notesMasters/notesMaster1.xml" Id="R3dc7cd80da0e4a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75649bf3c34a67" /><Relationship Type="http://schemas.openxmlformats.org/officeDocument/2006/relationships/notesMaster" Target="/ppt/notesMasters/notesMaster1.xml" Id="Rbe9c2b7c87414e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57f81fa8f64868" /><Relationship Type="http://schemas.openxmlformats.org/officeDocument/2006/relationships/notesMaster" Target="/ppt/notesMasters/notesMaster1.xml" Id="R917df7697bdf4b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375997ab64411f" /><Relationship Type="http://schemas.openxmlformats.org/officeDocument/2006/relationships/notesMaster" Target="/ppt/notesMasters/notesMaster1.xml" Id="R2af40ed3194740c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bf3f911d10485b" /><Relationship Type="http://schemas.openxmlformats.org/officeDocument/2006/relationships/notesMaster" Target="/ppt/notesMasters/notesMaster1.xml" Id="R5a416bf5064b41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3258e3591c44ae" /><Relationship Type="http://schemas.openxmlformats.org/officeDocument/2006/relationships/notesMaster" Target="/ppt/notesMasters/notesMaster1.xml" Id="R238d2bfcf67c4f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cfaa01cbc34276" /><Relationship Type="http://schemas.openxmlformats.org/officeDocument/2006/relationships/notesMaster" Target="/ppt/notesMasters/notesMaster1.xml" Id="Rfd1dd0579dcf49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73a1a8735a4d8c" /><Relationship Type="http://schemas.openxmlformats.org/officeDocument/2006/relationships/notesMaster" Target="/ppt/notesMasters/notesMaster1.xml" Id="Rca44901d553646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928fda533b43e1" /><Relationship Type="http://schemas.openxmlformats.org/officeDocument/2006/relationships/notesMaster" Target="/ppt/notesMasters/notesMaster1.xml" Id="R677ab6bd9a6a49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c5e542d29c42e5" /><Relationship Type="http://schemas.openxmlformats.org/officeDocument/2006/relationships/notesMaster" Target="/ppt/notesMasters/notesMaster1.xml" Id="R933629c6513c42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55ae63bae34bc1" /><Relationship Type="http://schemas.openxmlformats.org/officeDocument/2006/relationships/notesMaster" Target="/ppt/notesMasters/notesMaster1.xml" Id="R9af91cefc943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封面信息来源：reports/基于YOLO的牙齿病变识别系统_中期报告.docx；日期按当前答辩日期填写。背景图使用项目测试集 test_134.png。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评分依据：用户提供的科教融汇实践中期检查答辩要求截图；项目完成情况：中期报告第 1—4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1.1、1.3、4.3、4.6；背景图使用 test_134.png。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1.2、1.4、1.8；训练日志记录 Ultralytics 8.4.52、Python 3.12.3、torch 2.7.0+cu128、RTX4090 24GB。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1.5—1.7；“研究方向收敛”根据项目周报/月报总结和中期报告整理。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1.3、1.4、3.4；类别定义 0=Caries、1=Periapical_Lesion、2=Impacted。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原始截图：deliverables/85e515bfe909c0b24b8d28d599aef5b.png 与 deliverables/9a548c31434c48fec905c8675c81c7f.png。两图均直接嵌入，保持完整图像内容，不重绘、不裁剪。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图示依据：用户提供的云端资源订单截图，按原图内容放入 PPT，用于说明云端训练环境的来源与可追溯性。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1.5、1.6、3.3；指标取 results.csv 与 README。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曲线：results/midterm_report_assets/yolov8n+SPDConv-neck-P4_e200_curve.png；指标：results/yolov8n+SPDConv-neck-P4_e200/README.md。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曲线：results/midterm_report_assets/yolov8n+CIoU-NWD_curve.png、yolov8n+Hybrid-CIoU-PIoU_curve.png；指标来自对应 results.csv/README。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来源：中期报告 1.5、4.2；结合 SPDConv、CIoU-NWD、Hybrid 实验复盘整理。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图表数据来源：results/yolov8m+PIoU/README.md、results/yolov8n+CIoU-NWD/README.md、results/yolov8m+P2-highRecall_mosaic05_e200_p30/README.md；三类模型对应项目实际加载的 best.pt，均衡型最佳 epoch 38，高召回率模型最佳 epoch 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曲线：results/midterm_report_assets/yolov8m+PIoU_curve.png、yolov8n+CIoU-NWD_curve.png；高召回线图由 results/yolov8m+P2-highRecall_mosaic05_e200_p30/results.csv 的 mAP50-95 列生成，为可编辑图表。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 1.8、2.5、4.3；实际页面截图来自本地 127.0.0.1:7860 当前运行服务。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截图来源：.codex-ppt-build/captures/learn.png、dashboard.png；页面由本地 app.py 启动后实际访问生成。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截图来源：.codex-ppt-build/captures/single_overview.png；输入：dentex_yolov8_3cls_v3/.../images/test/test_134.png。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截图来源：.codex-ppt-build/captures/single_structured.png；字段由当前 app.py 运行结果生成。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截图来源：.codex-ppt-build/captures/single_review.png、single_report.png；报告中心顶级页面不在本次中期成果范围。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截图来源：.codex-ppt-build/captures/compare_analysis.png；compare_models.png、compare_review.png、compare_report.png 为同一次实际运行生成的其余视图素材。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截图来源：.codex-ppt-build/captures/batch_table.png、history.png；批量其余视图素材为 batch_review.png、batch_support.png、batch_report.png。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事实来源：中期报告第三章“下一步计划”和第四章“结论”；本页明确将智诊管家、报告中心和实时提问列为下一阶段。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答辩收束页采用简洁致谢与指导请求，作为独立最后一页。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8322dddfd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efe4bda2f4a19" /><Relationship Type="http://schemas.openxmlformats.org/officeDocument/2006/relationships/slideLayout" Target="/ppt/slideLayouts/slideLayout1.xml" Id="Rdddcd952d3ee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dcd952d3ee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eb8a5b8d543d3" /><Relationship Type="http://schemas.openxmlformats.org/officeDocument/2006/relationships/image" Target="/ppt/media/image.png" Id="R6aea029b7d254973" /><Relationship Type="http://schemas.openxmlformats.org/officeDocument/2006/relationships/notesSlide" Target="/ppt/notesSlides/notesSlide1.xml" Id="R89a61d32e186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8abbafc2a4f84" /><Relationship Type="http://schemas.openxmlformats.org/officeDocument/2006/relationships/notesSlide" Target="/ppt/notesSlides/notesSlide2.xml" Id="R315f1e6b44a5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1e363f274ac4" /><Relationship Type="http://schemas.openxmlformats.org/officeDocument/2006/relationships/notesSlide" Target="/ppt/notesSlides/notesSlide3.xml" Id="R69a5204e7b7b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d83ec7a642bd" /><Relationship Type="http://schemas.openxmlformats.org/officeDocument/2006/relationships/image" Target="/ppt/media/image2.png" Id="R8330fce5771947dc" /><Relationship Type="http://schemas.openxmlformats.org/officeDocument/2006/relationships/notesSlide" Target="/ppt/notesSlides/notesSlide4.xml" Id="Rfe9a4cd7390a43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92b2ce804949" /><Relationship Type="http://schemas.openxmlformats.org/officeDocument/2006/relationships/notesSlide" Target="/ppt/notesSlides/notesSlide5.xml" Id="Rfa6c0fa17a66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55f9a8f564597" /><Relationship Type="http://schemas.openxmlformats.org/officeDocument/2006/relationships/notesSlide" Target="/ppt/notesSlides/notesSlide6.xml" Id="Re8fc00ec2e1140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de92be7bb44a1" /><Relationship Type="http://schemas.openxmlformats.org/officeDocument/2006/relationships/notesSlide" Target="/ppt/notesSlides/notesSlide7.xml" Id="Re2b5e2fa7da5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10b7c73b04e16" /><Relationship Type="http://schemas.openxmlformats.org/officeDocument/2006/relationships/notesSlide" Target="/ppt/notesSlides/notesSlide8.xml" Id="Rfd2e713be752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a68e0668b4fa9" /><Relationship Type="http://schemas.openxmlformats.org/officeDocument/2006/relationships/image" Target="/ppt/media/image3.png" Id="Rb4521be7b54a437b" /><Relationship Type="http://schemas.openxmlformats.org/officeDocument/2006/relationships/image" Target="/ppt/media/image4.png" Id="R720bf43760c74152" /><Relationship Type="http://schemas.openxmlformats.org/officeDocument/2006/relationships/notesSlide" Target="/ppt/notesSlides/notesSlide9.xml" Id="R091b8c9b3f3c42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c3384bcd4d17" /><Relationship Type="http://schemas.openxmlformats.org/officeDocument/2006/relationships/image" Target="/ppt/media/image5.png" Id="Rd8e4ac060e804eee" /><Relationship Type="http://schemas.openxmlformats.org/officeDocument/2006/relationships/notesSlide" Target="/ppt/notesSlides/notesSlide10.xml" Id="Ra1b62db6467942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24be136b4d6a" /><Relationship Type="http://schemas.openxmlformats.org/officeDocument/2006/relationships/notesSlide" Target="/ppt/notesSlides/notesSlide11.xml" Id="R5c2d611f7e06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9af756fcc46ec" /><Relationship Type="http://schemas.openxmlformats.org/officeDocument/2006/relationships/image" Target="/ppt/media/image6.png" Id="Re96968dea99044e3" /><Relationship Type="http://schemas.openxmlformats.org/officeDocument/2006/relationships/notesSlide" Target="/ppt/notesSlides/notesSlide12.xml" Id="Rabc32dae6b954f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fa39560354117" /><Relationship Type="http://schemas.openxmlformats.org/officeDocument/2006/relationships/image" Target="/ppt/media/image7.png" Id="R740494a5ec83409e" /><Relationship Type="http://schemas.openxmlformats.org/officeDocument/2006/relationships/image" Target="/ppt/media/image8.png" Id="R32a190f9d8b44017" /><Relationship Type="http://schemas.openxmlformats.org/officeDocument/2006/relationships/notesSlide" Target="/ppt/notesSlides/notesSlide13.xml" Id="R5d96ee0810f1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8632634549ce" /><Relationship Type="http://schemas.openxmlformats.org/officeDocument/2006/relationships/notesSlide" Target="/ppt/notesSlides/notesSlide14.xml" Id="R2603ccaf514d47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5301e92174aa1" /><Relationship Type="http://schemas.openxmlformats.org/officeDocument/2006/relationships/notesSlide" Target="/ppt/notesSlides/notesSlide15.xml" Id="R240e46ef079043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0451dd1e34a49" /><Relationship Type="http://schemas.openxmlformats.org/officeDocument/2006/relationships/chart" Target="/ppt/slides/charts/chart1.xml" Id="Rfe56455d29e04c4e" /><Relationship Type="http://schemas.openxmlformats.org/officeDocument/2006/relationships/notesSlide" Target="/ppt/notesSlides/notesSlide16.xml" Id="R694f279af21441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1d5cac38494b" /><Relationship Type="http://schemas.openxmlformats.org/officeDocument/2006/relationships/image" Target="/ppt/media/image9.png" Id="R954885802fac4c84" /><Relationship Type="http://schemas.openxmlformats.org/officeDocument/2006/relationships/image" Target="/ppt/media/image10.png" Id="Rae3ba9dfd9e241b0" /><Relationship Type="http://schemas.openxmlformats.org/officeDocument/2006/relationships/chart" Target="/ppt/slides/charts/chart2.xml" Id="Raa669a7f8c2444a3" /><Relationship Type="http://schemas.openxmlformats.org/officeDocument/2006/relationships/notesSlide" Target="/ppt/notesSlides/notesSlide17.xml" Id="Rcfef89a8179044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fd63776c4d58" /><Relationship Type="http://schemas.openxmlformats.org/officeDocument/2006/relationships/notesSlide" Target="/ppt/notesSlides/notesSlide18.xml" Id="R3c7c94dcfc0f48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5f53bc3b9464d" /><Relationship Type="http://schemas.openxmlformats.org/officeDocument/2006/relationships/notesSlide" Target="/ppt/notesSlides/notesSlide19.xml" Id="R900610f6b47742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fb17504ba4c5b" /><Relationship Type="http://schemas.openxmlformats.org/officeDocument/2006/relationships/image" Target="/ppt/media/image11.png" Id="R2dba1f7b595e4637" /><Relationship Type="http://schemas.openxmlformats.org/officeDocument/2006/relationships/image" Target="/ppt/media/image12.png" Id="R3c7de980fcd64007" /><Relationship Type="http://schemas.openxmlformats.org/officeDocument/2006/relationships/notesSlide" Target="/ppt/notesSlides/notesSlide20.xml" Id="Rd330fd32b6ea46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f59a1c5a54f56" /><Relationship Type="http://schemas.openxmlformats.org/officeDocument/2006/relationships/image" Target="/ppt/media/image13.png" Id="R82921a998d3a4f23" /><Relationship Type="http://schemas.openxmlformats.org/officeDocument/2006/relationships/notesSlide" Target="/ppt/notesSlides/notesSlide21.xml" Id="R58b43cdcba3f4a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47375c8fe48ca" /><Relationship Type="http://schemas.openxmlformats.org/officeDocument/2006/relationships/image" Target="/ppt/media/image14.png" Id="R0ae844ec58a944af" /><Relationship Type="http://schemas.openxmlformats.org/officeDocument/2006/relationships/notesSlide" Target="/ppt/notesSlides/notesSlide22.xml" Id="Rae6c380e6d6b48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2d54db02040e3" /><Relationship Type="http://schemas.openxmlformats.org/officeDocument/2006/relationships/image" Target="/ppt/media/image15.png" Id="R4b7f8b7093ef479b" /><Relationship Type="http://schemas.openxmlformats.org/officeDocument/2006/relationships/image" Target="/ppt/media/image16.png" Id="Rd80937b164f24088" /><Relationship Type="http://schemas.openxmlformats.org/officeDocument/2006/relationships/notesSlide" Target="/ppt/notesSlides/notesSlide23.xml" Id="Rb35903a899b14a6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eec7f187542f8" /><Relationship Type="http://schemas.openxmlformats.org/officeDocument/2006/relationships/image" Target="/ppt/media/image17.png" Id="R540dad7466ba4e16" /><Relationship Type="http://schemas.openxmlformats.org/officeDocument/2006/relationships/notesSlide" Target="/ppt/notesSlides/notesSlide24.xml" Id="R410aa7de57e04e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e67b296524db7" /><Relationship Type="http://schemas.openxmlformats.org/officeDocument/2006/relationships/image" Target="/ppt/media/image18.png" Id="R652ccd367d99429c" /><Relationship Type="http://schemas.openxmlformats.org/officeDocument/2006/relationships/image" Target="/ppt/media/image19.png" Id="Rdf0deb30c18848b3" /><Relationship Type="http://schemas.openxmlformats.org/officeDocument/2006/relationships/notesSlide" Target="/ppt/notesSlides/notesSlide25.xml" Id="R199bca05805e43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7f9c50c8422b" /><Relationship Type="http://schemas.openxmlformats.org/officeDocument/2006/relationships/notesSlide" Target="/ppt/notesSlides/notesSlide26.xml" Id="R6ffef8b462a44a2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943e9aacc48fc" /><Relationship Type="http://schemas.openxmlformats.org/officeDocument/2006/relationships/notesSlide" Target="/ppt/notesSlides/notesSlide27.xml" Id="R0fdde69d85b342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14e8f2624f04" /><Relationship Type="http://schemas.openxmlformats.org/officeDocument/2006/relationships/notesSlide" Target="/ppt/notesSlides/notesSlide28.xml" Id="R277daaef94ae47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Data'!$A$2:$A$4</c:f>
              <c:strCache>
                <c:ptCount val="3"/>
                <c:pt idx="0">
                  <c:v>均衡 YOLOv8m + PIoU</c:v>
                </c:pt>
                <c:pt idx="1">
                  <c:v>高精度 YOLOv8n + CIoU-NWD</c:v>
                </c:pt>
                <c:pt idx="2">
                  <c:v>高召回 YOLOv8m + P2 High-Recall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0.6685</c:v>
                </c:pt>
                <c:pt idx="1">
                  <c:v>0.7251</c:v>
                </c:pt>
                <c:pt idx="2">
                  <c:v>0.6367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E97B2D"/>
            </a:solidFill>
          </c:spPr>
          <c:cat>
            <c:strRef>
              <c:f>'Chart Data'!$C$2:$C$4</c:f>
              <c:strCache>
                <c:ptCount val="3"/>
                <c:pt idx="0">
                  <c:v>均衡 YOLOv8m + PIoU</c:v>
                </c:pt>
                <c:pt idx="1">
                  <c:v>高精度 YOLOv8n + CIoU-NWD</c:v>
                </c:pt>
                <c:pt idx="2">
                  <c:v>高召回 YOLOv8m + P2 High-Recall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0.6653</c:v>
                </c:pt>
                <c:pt idx="1">
                  <c:v>0.6103</c:v>
                </c:pt>
                <c:pt idx="2">
                  <c:v>0.6989</c:v>
                </c:pt>
              </c:numCache>
            </c:numRef>
          </c:val>
        </c:ser>
        <c:ser>
          <c:idx val="2"/>
          <c:order val="2"/>
          <c:tx>
            <c:v>mAP50-95</c:v>
          </c:tx>
          <c:spPr>
            <a:solidFill xmlns:a="http://schemas.openxmlformats.org/drawingml/2006/main">
              <a:srgbClr val="0FA7A0"/>
            </a:solidFill>
          </c:spPr>
          <c:cat>
            <c:strRef>
              <c:f>'Chart Data'!$E$2:$E$4</c:f>
              <c:strCache>
                <c:ptCount val="3"/>
                <c:pt idx="0">
                  <c:v>均衡 YOLOv8m + PIoU</c:v>
                </c:pt>
                <c:pt idx="1">
                  <c:v>高精度 YOLOv8n + CIoU-NWD</c:v>
                </c:pt>
                <c:pt idx="2">
                  <c:v>高召回 YOLOv8m + P2 High-Recall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0.4256</c:v>
                </c:pt>
                <c:pt idx="1">
                  <c:v>0.4074</c:v>
                </c:pt>
                <c:pt idx="2">
                  <c:v>0.4234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mAP50-95</c:v>
          </c:tx>
          <c:spPr>
            <a:solidFill xmlns:a="http://schemas.openxmlformats.org/drawingml/2006/main">
              <a:srgbClr val="0FA7A0"/>
            </a:solidFill>
          </c:spPr>
          <c:marker>
            <c:symbol val="none"/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22</c:v>
                </c:pt>
                <c:pt idx="8">
                  <c:v>25</c:v>
                </c:pt>
                <c:pt idx="9">
                  <c:v>28</c:v>
                </c:pt>
                <c:pt idx="10">
                  <c:v>31</c:v>
                </c:pt>
                <c:pt idx="11">
                  <c:v>34</c:v>
                </c:pt>
                <c:pt idx="12">
                  <c:v>37</c:v>
                </c:pt>
                <c:pt idx="13">
                  <c:v>40</c:v>
                </c:pt>
                <c:pt idx="14">
                  <c:v>43</c:v>
                </c:pt>
                <c:pt idx="15">
                  <c:v>46</c:v>
                </c:pt>
                <c:pt idx="16">
                  <c:v>49</c:v>
                </c:pt>
                <c:pt idx="17">
                  <c:v>52</c:v>
                </c:pt>
                <c:pt idx="18">
                  <c:v>55</c:v>
                </c:pt>
              </c:numCache>
            </c:numRef>
          </c:cat>
          <c:val>
            <c:numRef>
              <c:f>'Chart Data'!$B$2:$B$20</c:f>
              <c:numCache>
                <c:formatCode>General</c:formatCode>
                <c:ptCount val="19"/>
                <c:pt idx="0">
                  <c:v>0.13231</c:v>
                </c:pt>
                <c:pt idx="1">
                  <c:v>0.22932</c:v>
                </c:pt>
                <c:pt idx="2">
                  <c:v>0.2415</c:v>
                </c:pt>
                <c:pt idx="3">
                  <c:v>0.27273</c:v>
                </c:pt>
                <c:pt idx="4">
                  <c:v>0.31783</c:v>
                </c:pt>
                <c:pt idx="5">
                  <c:v>0.29513</c:v>
                </c:pt>
                <c:pt idx="6">
                  <c:v>0.37258</c:v>
                </c:pt>
                <c:pt idx="7">
                  <c:v>0.31934</c:v>
                </c:pt>
                <c:pt idx="8">
                  <c:v>0.40613</c:v>
                </c:pt>
                <c:pt idx="9">
                  <c:v>0.37396</c:v>
                </c:pt>
                <c:pt idx="10">
                  <c:v>0.39683</c:v>
                </c:pt>
                <c:pt idx="11">
                  <c:v>0.39535</c:v>
                </c:pt>
                <c:pt idx="12">
                  <c:v>0.38285</c:v>
                </c:pt>
                <c:pt idx="13">
                  <c:v>0.37211</c:v>
                </c:pt>
                <c:pt idx="14">
                  <c:v>0.38649</c:v>
                </c:pt>
                <c:pt idx="15">
                  <c:v>0.34898</c:v>
                </c:pt>
                <c:pt idx="16">
                  <c:v>0.36697</c:v>
                </c:pt>
                <c:pt idx="17">
                  <c:v>0.40701</c:v>
                </c:pt>
                <c:pt idx="18">
                  <c:v>0.34352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a029b7d254973"/>
          <a:srcRect xmlns:a="http://schemas.openxmlformats.org/drawingml/2006/main" l="31265" t="0" r="31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B1C1-3BFA-4433-9F50-BB025AC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2DA23-C40B-4574-9C34-0CACFC92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CEECD-5E26-48D8-909B-6BF30DF1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" cy="22288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BC477-8B96-4B07-8AE5-48F1B94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1E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E6DE"/>
                </a:solidFill>
                <a:latin typeface="Microsoft YaHei"/>
                <a:ea typeface="Microsoft YaHei"/>
                <a:cs typeface="Microsoft YaHei"/>
              </a:rPr>
              <a:t>科教融汇实践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C7125-668E-403C-8120-66EA0D6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中期检查汇报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5A6FC-1FF5-4ED4-BCB2-C297656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基于YOLO的牙齿病变识别系统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63650-7240-47EF-AB03-FF9EEC3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从技术栈选择、云端训练到检测闭环的阶段性成果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64645-3998-4041-BECE-BF73504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A73"/>
          </a:solidFill>
          <a:ln xmlns:a="http://schemas.openxmlformats.org/drawingml/2006/main" w="0">
            <a:solidFill>
              <a:srgbClr val="2A5A7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F9168-4AAC-4ED4-A7D7-26CC720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rPr>
              <a:t>项目名称：基于YOLO的牙齿病变识别系统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rPr>
              <a:t>课号：2611557    学号：2300320127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rPr>
              <a:t>姓名：张亮      指导老师：周小川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5"/>
                </a:solidFill>
                <a:latin typeface="Microsoft YaHei"/>
                <a:ea typeface="Microsoft YaHei"/>
                <a:cs typeface="Microsoft YaHei"/>
              </a:rPr>
              <a:t>报告日期：2026年10月9日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27BE5-DC69-441E-81B7-2F72F0E3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B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9BB4C5"/>
                </a:solidFill>
                <a:latin typeface="Microsoft YaHei"/>
                <a:ea typeface="Microsoft YaHei"/>
                <a:cs typeface="Microsoft YaHei"/>
              </a:rPr>
              <a:t>检测结果仅代表疑似区域，用于科研与教学辅助，不替代临床诊断。</a:t>
            </a:r>
          </a:p>
        </p:txBody>
      </p:sp>
    </p:spTree>
    <p:extLst>
      <p:ext uri="{BB962C8B-B14F-4D97-AF65-F5344CB8AC3E}">
        <p14:creationId xmlns:p14="http://schemas.microsoft.com/office/powerpoint/2010/main" val="730420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39998-F1E1-4FDC-A9AF-999E047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71990-72EE-4E61-B0AF-A9745C1E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01 · 研究基础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367FA-7C39-4A12-9063-5C750AC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研究基础与技术路线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188AD-1760-4E6B-90F0-E9564252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5777C-7B0F-4942-A0E3-CCA50247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从问题定义、技术栈与数据规范开始，形成可复现的研究入口。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C92B8-CBA1-4B93-8D1C-982EAAF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 · 科教融汇实践中期检查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0F080-B7EE-4E67-A368-3E50A23A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28929-876A-4A27-A521-6A6811A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7F158-406F-4374-82F5-9DBC494E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6820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B51BD-51C1-4CFA-A9D9-890531D5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01 · 汇报结构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1C2E9-2D4E-4967-BA75-AC79E86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先给结论：检测闭环已形成，研究方法正在收敛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B0CF4-0A16-449B-B701-0996F4E1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本次中期检查重点证明“能训练、能复盘、能演示”，智诊管家与报告中心放入下一阶段。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18D6-A941-4896-AAD5-EA68C2C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A4DE7-2933-4D5C-ADF4-2CF29D56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429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19988-F25A-434D-94B3-BDF0BB7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56B51-C427-4276-BF54-54F09E8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9DD08-9118-4DC5-96FC-0311A7A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948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数据规范化、云端 GPU 训练、失败实验复盘，以及首页、单图、批量、多模型、历史记录等检测相关页面。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E3245-E3B9-4F6A-91DC-3BDC6911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D9CB7-B9D0-437E-8E15-DFBB28F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0040A-8FFD-468D-B5ED-714BA00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00584-4451-4E30-B388-F352B40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围绕小目标、低对比度和类别不均衡，采用统一变量、单模块消融和多指标复核，避免只看一次 mAP。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E6CC1-F7AD-40A6-9568-3A10C086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429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C63A2-75BB-45E7-A7D1-665CF470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66675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5551B-1700-4D90-AFC8-9145EBF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62B70-22F6-48C4-885F-DCE67F2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接入智诊管家、报告中心和实时提问，将检测结果转成可解释、可复核、可留存的研究证据链。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AA8A2-CE34-4F1F-A1AF-BDE3BCA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答辩要求对应证据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552450" y="3905250"/>
          <a:ext xmlns:a="http://schemas.openxmlformats.org/drawingml/2006/main" cx="11087100" cy="1885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8991600"/>
              </a:tblGrid>
              <a:tr h="3771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评分维度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 PPT 中的证据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</a:tr>
              <a:tr h="3771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任务完成质量 15%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完成矩阵 + 真实系统截图 + 可复现实验资料</a:t>
                      </a:r>
                    </a:p>
                  </a:txBody>
                  <a:tcPr marL="91440" marR="91440" marT="45720" marB="45720" anchor="ctr"/>
                </a:tc>
              </a:tr>
              <a:tr h="3771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技术应用能力 10%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技术栈选择 + 云服务器训练 + 失败实验诊断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3771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实践进展与反馈 10%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“问题—实验—结果—调整”闭环</a:t>
                      </a:r>
                    </a:p>
                  </a:txBody>
                  <a:tcPr marL="91440" marR="91440" marT="45720" marB="45720" anchor="ctr"/>
                </a:tc>
              </a:tr>
              <a:tr h="3771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报告与知识转化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指标口径、结论边界、从算法到可运行系统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AC5AA-F2B7-4B0D-B8CF-D17CE464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本次汇报重点说明“为什么这样选、如何验证、结果如何进入系统”，把训练证据与页面证据放在同一条可复核链路中。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FC423-E274-412F-8B29-530CB8A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004A3-33E4-4EC3-A36E-5561804B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56A26-FB9D-4FD8-867E-4F901228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62201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D5FC2F-B19A-44BC-A2F1-0F01B5A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02 ·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1FFDF-26BB-4B44-ABEB-A910257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牙科影像检测的难点，不是“框出来”这么简单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A1061-A0B7-4E61-A265-A615BA4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三类目标具有不同尺度、对比度和边界特征，决定了实验必须同时观察精度、召回和定位质量。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1F979-1153-4BA6-8C28-7FF603DC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0fce5771947dc"/>
          <a:stretch xmlns:a="http://schemas.openxmlformats.org/drawingml/2006/main"/>
        </p:blipFill>
        <p:spPr>
          <a:xfrm xmlns:a="http://schemas.openxmlformats.org/drawingml/2006/main">
            <a:off x="552450" y="2302045"/>
            <a:ext cx="4762500" cy="21777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29697-96CC-4C22-B912-0C4DD182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762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FCE62-7329-4AB0-9BAA-A2428F0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研究对象：龋坏、根尖周异常、阻生/埋伏牙候选区域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652CD-3D86-437F-8647-317642D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6944D-C490-4425-8C7D-4624449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7B80D-6FE6-4A68-8EE0-61BECFA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47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小目标与低对比度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AD841-00E3-4341-8DD0-35A9705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64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早期龋坏、根尖周影像改变可能只占很小区域，灰度差异弱，缩放后容易丢失。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69A3B-BAE9-4671-89A1-239AD87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F335B-249D-41AE-BA27-8A249FE8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9852F-C270-48D2-B5C9-1A963B3F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边界与标注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17CC0-FBE1-4FBA-82D3-CCA5DE9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64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边界具有模糊性，标注成本高；越界框、空标签和类别编号错位会直接污染训练。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CF15A-CE4F-4DD9-B766-C7DDA43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7D4C3-BAA3-455E-BA91-E17195C7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7313B-A1A8-47F4-A28A-FE0ECBE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14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类别不均衡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8CC01-36B1-4F9E-BAF0-C1E0715E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382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阻生牙形态较明显，可作为基础参照；龋坏和根尖周异常更容易出现漏检。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0142D-C170-492B-844E-9EC61B6F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724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F42C4-8729-43FE-96D6-927C286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F47"/>
          </a:solidFill>
          <a:ln xmlns:a="http://schemas.openxmlformats.org/drawingml/2006/main" w="0">
            <a:solidFill>
              <a:srgbClr val="CF3F4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9CDA6-1861-42FB-ACFC-0A338AB8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临床边界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1813C-DB19-486C-9053-171E62D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382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模型输出只能提示疑似区域，最终判断必须结合原始影像和口腔专业复核。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D2EB8-DEA1-46CB-A904-CBC5E50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53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9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因此，模型选择不追求单一最高分，而追求“场景侧重 + 运行成本 + 错误可解释”。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B0FD5-B3D4-4AB2-AA53-C70C65DA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44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答辩时将把检测框视为候选提示：模型负责缩小复核范围，医生仍需结合原始影像、病史与临床经验完成判断。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E7F6B-2E76-4A3A-B092-EC35E177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04799-2E94-43D9-936E-224F886E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127A4-C467-4FF2-B7B8-46C2A9C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5547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5A9C3-96DC-49DA-8000-D05959D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03 · 技术栈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14AD5-BE9C-4BF1-B323-EFF1BA1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技术栈选择：训练与演示分工，保证研究可复现与答辩可运行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D3E15-0D5F-434C-8054-A504DCC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云端 GPU 负责计算密集的模型训练，本地 CPU 优先保障交互演示稳定。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1C756-D60A-4B23-BD64-2463DFC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1FE63-73F4-485F-B02B-5022ECD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BDF65-7342-4340-8090-2088D14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1C0BB-5C8D-4C7A-8A08-7701C26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Python / PyTorch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8ED2-80AD-4F9F-A1BF-39930EA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掌握张量、自动求导、模块封装与训练循环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02A6B-4BB2-4BBF-A8C5-BCB32F6E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335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15FE4-8A04-4311-A355-C9CC57E2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335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815C1-07DD-4641-AB0A-8F4DB047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05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YOLOv8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59D5D-C843-420B-B70F-D4E8E36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669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单阶段检测、成熟训练生态、可追踪的验证指标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6B696-A401-4CF2-97A3-D4966E08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78C7F-72E6-457D-B867-E97B20E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335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295BA-6A29-442F-8F3E-DC3B1545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OpenCV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17EE4-494B-41A1-9B95-1BE71FA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灰度归一化、CLAHE、尺寸处理与可视化复核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5D098-70D9-4EA3-9AC5-E0BDC0B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CB625-2CCF-4276-9536-CC718702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EE5D3-401F-4B9B-B9E0-51FA728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Gradio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77641-D799-4530-8F97-FB6C716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快速搭建上传、参数、推理状态和结果展示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5BCFB-A6EB-479D-80EE-5C62AE8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CDABF-E0B0-4289-9995-3CF4D89F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0">
            <a:solidFill>
              <a:srgbClr val="0B2D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19D27-8731-48C9-AE65-B321716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RTX4090 云服务器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63F37-AD22-48BD-8CEB-A3CE517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052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统一 CUDA、随机种子、日志和权重留档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43646-777B-47C7-940B-A3D5A82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7557B-A0CE-42DF-9019-CF9D773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27A"/>
          </a:solidFill>
          <a:ln xmlns:a="http://schemas.openxmlformats.org/drawingml/2006/main" w="0">
            <a:solidFill>
              <a:srgbClr val="16A27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F3A6D-7AB8-4F5E-9502-424A167F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 CPU 演示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DC68D9-17CC-40FA-BC59-31EE48F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加载 best.pt，突出低门槛复现与交互稳定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F9E0B-8889-46AB-A9A8-440475B8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5823C-C422-49B5-8E3B-9E6CD00A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资源路线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E3EB7-938C-4B72-9C55-720F18B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10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数据清理 → 云端 GPU 训练 → 读取 results.csv / best.pt → 本地 CPU 推理 → 页面截图与复核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E2BA67-FE65-4F0A-8302-5080562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分工依据是可复现性与展示稳定性：训练阶段保留完整日志和权重，演示阶段使用固定版本权重，避免答辩现场受显存、网络或服务状态影响。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95C23-635D-4A86-A7A7-F7DC592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F50DE-AA1E-4D2C-8672-F2D192C1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A26E32-4687-48ED-BB48-2152A324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198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7B2F99-6887-4674-999C-E2A9E23D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04 · 方向收敛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75CF5-C226-4073-BAD2-6AB66BE8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研究方向从“学 YOLO”收敛到“解释牙科影像瓶颈”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8B6EE-217B-476D-8373-FC11B5A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每一次方向调整都对应一个可观测问题，避免复杂结构堆叠。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C38E9-6B73-4E0C-AEE1-ADAF753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C6074-BF98-4FD7-B0FE-C7DDB797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37CC9-A204-4248-A649-CB8C8D5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48A3-DF2F-4EAF-9509-C1712C7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45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通用目标检测学习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4005A-201F-42A3-BEA1-4BC8C4D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6944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Backbone / Neck / Head、IoU、NMS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3B6FC-9E37-4F54-9831-A5403B1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717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06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ADFB9-A136-40E6-9219-A3444450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4FFB2-EBA7-4110-B4BF-1CB0771A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CE217-43C6-4D2C-A42E-3A922C54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牙科影像特征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AEA35-A1C9-4F45-B5F3-4073C22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729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小目标、低对比度、边界模糊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4B698-1B0D-42EE-B70B-4CDFC4C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717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06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72722-5A99-499C-808E-50BF9ED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2A6B8-A2AF-42A3-A69E-9CABE63F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4764F-6F68-4369-8E5E-50023E0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任务定义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CD686-B7AE-46B6-AB8D-A20D744A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6944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Caries / Periapical_Lesion / Impacted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BE761-3A20-451A-A2D6-64A422B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717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06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AE23-8746-4630-BCB9-0D205580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6BB3F-0341-4C9B-B5FE-6FCCFB4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AFC2C-ABA3-42D3-9E30-C6905B0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47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基线与数据规范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FDD84-5B01-48F5-AF62-2094CE64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906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标签对应、类别编号、验证集分布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44777-8142-4B25-ADD3-4AFEE97D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06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AE94A-4241-415A-88CC-9003325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C9A32-B36F-4FD8-881D-11FACA69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7D570-5BF7-4F4E-A447-551C3041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单变量实验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B1BA6-C3D6-44BB-854E-ACDA94D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741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SPDConv、P3、IoU 损失、注意力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2AB3F-98F1-4B72-93FE-53BB59F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717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06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97B88-EA64-4B9A-8350-4FCFB31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7C24DF-8A62-4893-AF97-D0B29A1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1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68B2D-14AB-4650-9377-5F4C1FA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384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交互式系统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FDAF2-EA95-4FC5-B30C-BB3DDE3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623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729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rPr>
              <a:t>检测、结构化结果、人工复核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DC8404-4440-4597-A119-3C440CE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5334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234222-4F53-4069-9191-E5781566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D0C3A-C7CC-4899-B860-C3F26F1C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关键转折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02518-194C-44C2-912B-8474E5E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97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714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第一次引入 SPDConv 后发现：结构更复杂不代表召回更高。研究策略由“叠加模块”调整为“先定位瓶颈，再做单变量消融”。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F6C6F2-09B2-48FC-B320-73F2F11A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5334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83373-462C-4B2F-9D21-87E13B74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376064-5A56-4187-A793-CCE3F920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论文与系统同步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2FDEC-B558-45D3-94FB-25391DF4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497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实验记录保留配置、权重、日志、曲线和典型样本；系统页面同时显示模型、阈值、置信度、耗时与人工复核边界。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460B64-1AD9-48D0-AA7D-67AB1E9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方向收敛后的评价标准：先回答牙科影像中的真实瓶颈，再判断改动是否带来稳定收益，最后确认成果能否在页面中被解释和复核。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B025A9-AA46-43E5-8C56-88DCD83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CAFED4-49D1-478F-AD33-89726F9F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A91464-49E8-4984-83A6-CA13F2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4330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F998A-73CF-4F89-82CA-D149ECA2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05 · 数据准备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41724-E1A1-4B5D-B80A-D2C5CB2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先把“数据能不能稳定进入训练”解决，再讨论结构改进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4E1F6-C31F-4A3B-A10D-67DBE2D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数据质量控制和增强策略直接影响小目标检测的可信度。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FE22-88BF-4A7B-93A3-3395660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785FE-3D4B-465D-AAB7-DC77111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476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9B27-57FE-4A05-86EE-C2A1314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6675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2D11F-721F-462B-A920-1DDBBBA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目录与标签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372B0-C2AA-4578-B65D-EC98E1B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图像、YOLO 标签、data.yaml、train/val/test 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24688-B389-404E-8834-6F54B7C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33550"/>
            <a:ext cx="2476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BBEFE-7717-43CD-AF6D-442F9D1D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33550"/>
            <a:ext cx="66675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76940-F847-47CE-9B61-55E6580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050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清理与复核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A0E25-13D2-4DF1-B3F4-BE56BA41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空标签、越界坐标、重复样本、类别编号错位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CAC9-F951-46E5-A2EA-1C2EFAA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1175B-E9DA-4792-8FC7-A1843A3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66675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C21AB-C8AF-452C-B591-34EDAED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增强原则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0C04A-49CC-4DEA-9B36-2E11D6C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基础增强保证多样性；局部增强保护病灶细节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0949A-6BAC-4F80-849A-1F12E088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33550"/>
            <a:ext cx="2476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5A647-A65E-4875-B9EB-5CA0B113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33550"/>
            <a:ext cx="66675" cy="1638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0">
            <a:solidFill>
              <a:srgbClr val="0B2D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A8EB3-6BB2-4997-ADBC-FE6F7E1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050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评价分层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0197B-8863-4B7C-BC7D-1D98DD22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2114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按清晰度、遮挡、修复体干扰、病灶尺寸分层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507EB-C407-48A4-86A7-5DFF5D80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增强与输入处理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AD570-29E8-47C7-8207-07E7969B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C646D-6AE3-4146-BDF0-F144C178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OpenCV 灰度归一化与对比度增强，统一不同来源影像的输入条件。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F8620-CF4A-4AAF-8DE2-503CC9B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756B2-59DD-46D4-B99C-8A0F2961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08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CLAHE、Mosaic、MixUp、随机仿射、翻转、裁剪和尺度变换，按病灶特征选择适用范围。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C570D-E0E9-49A0-BC92-33813D22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A9770-69E5-449C-A943-C80EA4E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验证集保持原始分布，避免增强把验证结果“美化”。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E386D-EFC3-42B9-8D19-BEA32C5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781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BC9B8-CEB7-4153-B280-371D044E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质量控制输出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7143750" y="4171950"/>
          <a:ext xmlns:a="http://schemas.openxmlformats.org/drawingml/2006/main" cx="419100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381250"/>
              </a:tblGrid>
              <a:tr h="24003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记录项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</a:tr>
              <a:tr h="24003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图像—标签一一对应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防止训练输入错位</a:t>
                      </a:r>
                    </a:p>
                  </a:txBody>
                  <a:tcPr marL="91440" marR="91440" marT="45720" marB="45720" anchor="ctr"/>
                </a:tc>
              </a:tr>
              <a:tr h="24003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类别编号与中文映射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保证模型输出可解释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24003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典型框可视化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发现偏移、漏标与重复框</a:t>
                      </a:r>
                    </a:p>
                  </a:txBody>
                  <a:tcPr marL="91440" marR="91440" marT="45720" marB="45720" anchor="ctr"/>
                </a:tc>
              </a:tr>
              <a:tr h="24003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配置与随机种子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支持跨实验复核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11F86D-3D31-4BDE-A975-EBAE76A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数据准备的产物不是一份“干净文件夹”，而是一套可追溯记录：每次训练都能回到相同的数据划分、输入尺寸和增强策略。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8A3D84-58EB-402A-B040-8091CF6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E6538-65A5-41DA-91AB-17E4239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DE8422-4A9D-4CDC-A77C-6F51F8E5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7312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9B4B-BA6B-4609-BCF1-58964632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24E7-A52E-41C8-84A8-D0FF24F5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02 · 训练复盘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ED0FE-BA0C-45A3-9373-D981B40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云端训练与实验复盘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CCBAC-0F1E-4780-83D3-9E0B259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DD456-3E4A-4D7B-BDC1-33F87384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把训练日志、验证曲线和失败案例放在同一条证据链上。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BB974-8770-432E-9229-472A20E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 · 科教融汇实践中期检查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1EEB1-D327-4C42-B868-1017E7F3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EB221-1C9C-402B-ACF4-1382E59D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FEFD-5E05-41A7-9D70-38ACA75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2820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4DC52-A02C-45B6-8735-025D14A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06 · 云端训练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FE7F8-2257-49D7-B0AE-A8F0993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云服务器训练：从数据扫描到 checkpoint 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CFC95-03AB-4808-8E89-A327350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下面两张训练日志图对应“数据进入训练”和“指标用于复盘”两个关键节点。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BFB65-BD3D-48D0-9144-BBC1B8E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D787D-A8C6-404A-B960-5F916C52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334000" cy="3048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0">
            <a:solidFill>
              <a:srgbClr val="071B2A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21be7b54a437b"/>
          <a:stretch xmlns:a="http://schemas.openxmlformats.org/drawingml/2006/main"/>
        </p:blipFill>
        <p:spPr>
          <a:xfrm xmlns:a="http://schemas.openxmlformats.org/drawingml/2006/main">
            <a:off x="552450" y="1888112"/>
            <a:ext cx="5334000" cy="26245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7A5E2-7E9C-459D-8A3E-E2EE155C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5334000" cy="3048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71B2A"/>
          </a:solidFill>
          <a:ln xmlns:a="http://schemas.openxmlformats.org/drawingml/2006/main" w="0">
            <a:solidFill>
              <a:srgbClr val="071B2A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bf43760c74152"/>
          <a:stretch xmlns:a="http://schemas.openxmlformats.org/drawingml/2006/main"/>
        </p:blipFill>
        <p:spPr>
          <a:xfrm xmlns:a="http://schemas.openxmlformats.org/drawingml/2006/main">
            <a:off x="6630220" y="1676400"/>
            <a:ext cx="4608459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F9617-0DE8-4711-82A6-6E6C76F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图 1｜数据扫描与输入校验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A20A1-7712-4EEA-AEBA-C01ABA9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逐批读取训练集图像与标签，确认路径可访问、标注可解析，再进入正式训练。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17957-68E4-41C4-8CE8-D3D71B34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57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图 2｜验证、早停与权重归档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7CCF5-20D0-49E6-AD71-6740E5A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006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逐轮查看 loss、P、R 和 mAP；触发早停后保留 best.pt，并回到本地做推理复核。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9DEFB-C7BF-4F95-BCC5-EA6E6AF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两张原始截图分别证明“数据进入训练”和“模型完成验证”，训练证据与后续实验曲线相互对应。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37CDB-CCF5-4331-B548-9A43F38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C884C-311C-459F-AE0C-D2D732E1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448DD-62D4-4863-A8F3-D9946EC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597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482EF-D6A3-4333-8B70-4D40A0B4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06 · 云端资源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E272F-9354-44B1-8B7D-068662DB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云端资源订单截图：训练环境来源与可追溯性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016AB-4D3F-4579-9B88-FBBA6177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订单页用于说明云端 GPU 资源的使用记录，与训练日志共同构成实践过程证据。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17F68-EE2F-4454-ACE6-84801D9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DEC25-40B4-4CBA-BE11-E257420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4171950"/>
          </a:xfrm>
          <a:prstGeom xmlns:a="http://schemas.openxmlformats.org/drawingml/2006/main" prst="roundRect">
            <a:avLst>
              <a:gd name="adj" fmla="val 22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4ac060e804eee"/>
          <a:stretch xmlns:a="http://schemas.openxmlformats.org/drawingml/2006/main"/>
        </p:blipFill>
        <p:spPr>
          <a:xfrm xmlns:a="http://schemas.openxmlformats.org/drawingml/2006/main">
            <a:off x="3058583" y="1790700"/>
            <a:ext cx="6074833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E93E-3B85-4BC9-8774-9A48BCC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4298-DB21-4943-BF53-9F4DED3F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图示说明：订单记录对应云端容器资源；训练过程由同一云端环境完成，再下载权重回本地验证。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E17BB-0DDA-4D24-B229-EABD559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104FB-AFA6-4BD1-B797-337A62B3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E72B5-9AB6-4ED2-B7F7-D4B2651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1366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E8195-1EC1-471C-BC1A-543DD3A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07 · 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3BF54-06EA-401D-B824-8FA96DE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统一条件 + 多指标：不让单一 mAP 掩盖真实退化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EDBD9-B037-4098-902F-7DBEFDC3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最终选择同时考虑检测效果、定位质量和部署成本。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88B5E-80E0-4DFA-BE7E-1B4DE5F7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52450" y="1733550"/>
          <a:ext xmlns:a="http://schemas.openxmlformats.org/drawingml/2006/main" cx="11087100" cy="2019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143250"/>
                <a:gridCol w="6134100"/>
              </a:tblGrid>
              <a:tr h="4038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记录指标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为什么重要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</a:tr>
              <a:tr h="4038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检测效果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 / Recall / F1 / mAP50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分别观察误检、漏检、综合平衡和宽松 IoU 下的识别能力</a:t>
                      </a:r>
                    </a:p>
                  </a:txBody>
                  <a:tcPr marL="91440" marR="91440" marT="45720" marB="45720" anchor="ctr"/>
                </a:tc>
              </a:tr>
              <a:tr h="4038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定位质量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mAP50-95 / AP75 / 典型框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IoU 更能反映框是否真正覆盖病灶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4038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运行成本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 / FLOPs / 显存 / 单图延迟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答辩演示与后续部署必须可承受</a:t>
                      </a:r>
                    </a:p>
                  </a:txBody>
                  <a:tcPr marL="91440" marR="91440" marT="45720" marB="45720" anchor="ctr"/>
                </a:tc>
              </a:tr>
              <a:tr h="4038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研究可信度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数据划分 / seed / 输入尺寸 / 阈值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让不同改动具有可比性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90DB4-1CB5-42C6-BB5F-9DB8D2B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ED23D-3F63-4095-9F63-55532D32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29348-9554-45FF-9063-6C731B1D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基线问题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55FDB-52EB-4425-91E2-095091AD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先跑通原始 YOLOv8，建立可重复的指标与页面输出。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55B8F-2611-42F2-A247-EFC39E7A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87CEE-43B4-439D-AD29-0A1A319D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508E4-5742-4801-8E60-A4A66D2A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672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改进问题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66ED0-DA33-4172-A73F-15875FE2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单个模块是否真的解决小目标、边界或召回瓶颈？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B57FD-32A7-45F3-A6FF-1F05392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429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45455-39F3-4014-A5AB-9019EC8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B39F2-718A-43A3-8178-2D0D3779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选型问题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A01C9-5C94-4E9C-BD15-629F381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默认模型、高精度模型、高召回候选如何服务不同场景？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C374B-F14F-4794-8589-597E87C0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因此，实验比较不只看最终分数，还要保持训练条件一致，并将每个改动对应到明确的假设和可观察指标。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ADA66-94E7-43A6-9F52-C7718FC7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F1753-15E8-4DD9-9F22-951300C0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E4D1E-0581-45AB-B288-6EC77E5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5538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E8FEF-FC54-4500-8F44-476AD6E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08 · 失败实验复盘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D9EF3-EAFC-42C0-9514-ABECAC3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SPDConv-neck-P4 续训：增加复杂度，但验证曲线出现断崖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79EEA-F103-43F3-B19B-425A35DF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在统一口径下，结构改动没有稳定转化为更好的综合检测能力。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DF4E4-38E1-423D-A2A3-D4EF10FE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968dea99044e3"/>
          <a:stretch xmlns:a="http://schemas.openxmlformats.org/drawingml/2006/main"/>
        </p:blipFill>
        <p:spPr>
          <a:xfrm xmlns:a="http://schemas.openxmlformats.org/drawingml/2006/main">
            <a:off x="552450" y="1953531"/>
            <a:ext cx="7239000" cy="26270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FADF-9F4E-40F6-854A-C2015BB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1562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D44FB-3AEB-4CD7-A419-86A40F51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D0637-CCE3-47BF-8E0D-327EF2A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954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97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97B2D"/>
                </a:solidFill>
                <a:latin typeface="Microsoft YaHei"/>
                <a:ea typeface="Microsoft YaHei"/>
                <a:cs typeface="Microsoft YaHei"/>
              </a:rPr>
              <a:t>0.577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492B4-C217-49B1-B139-F137B0E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479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08483-F924-4AFE-8278-3BCFEEC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52600"/>
            <a:ext cx="1562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E1EC5-06DE-4905-B086-FCE3BC8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526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31A46-1446-4D08-ADF4-6020452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954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0.716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0D981-4551-47DE-80E7-4248FDF9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479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4EFAA-DAFF-4C5D-82E2-C1741AE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1562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20E44-1BC6-4483-AF8A-09EE801C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DD81D-22A6-4FA9-88C9-2104422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98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0.675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24DA7-FF97-42F8-A053-0962BB5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mAP50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C6763-EB59-4FF9-97C4-C985DC8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67000"/>
            <a:ext cx="1562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829E4-A1CD-414B-8BF7-7EB0F352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670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F47"/>
          </a:solidFill>
          <a:ln xmlns:a="http://schemas.openxmlformats.org/drawingml/2006/main" w="0">
            <a:solidFill>
              <a:srgbClr val="CF3F4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8D394-6EAB-4C20-81E2-2468F27F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0987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F3F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F3F47"/>
                </a:solidFill>
                <a:latin typeface="Microsoft YaHei"/>
                <a:ea typeface="Microsoft YaHei"/>
                <a:cs typeface="Microsoft YaHei"/>
              </a:rPr>
              <a:t>0.408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11B52-EA45-4980-9594-8105ED5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mAP50-95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F9E20-EDC2-421C-AD19-F829851F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2766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63F40-E1DE-4251-BA74-49CDCC22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66675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F47"/>
          </a:solidFill>
          <a:ln xmlns:a="http://schemas.openxmlformats.org/drawingml/2006/main" w="0">
            <a:solidFill>
              <a:srgbClr val="CF3F4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01823-2381-4F5A-9D38-68EF53E1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现象 → 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9F57C-3B75-4BA7-ACCC-9F21F3F0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757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约 epoch 53 验证指标同步下跌，后半段仅恢复到约 0.35—0.40 的 mAP50-95。说明续训与特征改动带来验证不稳定；结构复杂度没有换来稳定收益。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5D870-1856-41BE-B746-2D2032C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调整动作：取消直接叠加，固定数据划分与 seed，改用单变量消融。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F7B18-9879-46D6-B8AF-A0C5933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45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复盘结论：曲线的阶段性波动提示模型对结构改动较敏感，后续应优先检查数据规模、输入分辨率与特征层位置，再决定是否继续增加模块。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024FA-2FE2-4482-8EDE-733E17E1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8CBCCF-C445-4276-9AC2-EF1DF02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ADBE2-19AB-4152-8F21-A82D8880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24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44FCB-90AD-49F7-9655-0739AB03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09 · 失败实验复盘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F266E-239A-4057-ACFF-D0812226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两个“局部变好”的方案，整体仍不如基线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66B45-A32B-4CE1-8C74-9A32C71E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只看单类或单个指标会误判；必须回到类别平衡、召回和 mAP50-95。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C4AFA-3BE5-4123-B8E0-4E97F5DF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494a5ec83409e"/>
          <a:stretch xmlns:a="http://schemas.openxmlformats.org/drawingml/2006/main"/>
        </p:blipFill>
        <p:spPr>
          <a:xfrm xmlns:a="http://schemas.openxmlformats.org/drawingml/2006/main">
            <a:off x="552450" y="2038493"/>
            <a:ext cx="5143500" cy="186661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190f9d8b44017"/>
          <a:stretch xmlns:a="http://schemas.openxmlformats.org/drawingml/2006/main"/>
        </p:blipFill>
        <p:spPr>
          <a:xfrm xmlns:a="http://schemas.openxmlformats.org/drawingml/2006/main">
            <a:off x="6000750" y="2038493"/>
            <a:ext cx="5143500" cy="18666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075B4-C01E-4CE4-A028-C9CDEC5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5143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10529-0C9F-43B6-91DA-F3574679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C957C-C090-46C8-A215-5495A29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CIoU + NWD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AC873-F94D-4ED7-8EC2-9F1BC442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78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34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Precision 0.7251 上升，但 Recall 0.6103、mAP50-95 0.4074；更保守，容易牺牲候选区域召回。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336AC-7B17-4CA3-BB27-2AFCBDF1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143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455B8-F88A-46B1-8E66-D8080FA1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F47"/>
          </a:solidFill>
          <a:ln xmlns:a="http://schemas.openxmlformats.org/drawingml/2006/main" w="0">
            <a:solidFill>
              <a:srgbClr val="CF3F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83A9-046E-47CB-9AC9-574D02A4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Hybrid CIoU / PIoU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ED1F8-3EA8-42A1-AD56-DFE5D3F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478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1272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Impacted 类定位改善，但 Periapical_Lesion mAP50-95 仅 0.2443，整体 Recall/F1 下滑，类别保护不稳定。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76C4A-9CF4-4BB3-8B19-05DB8B6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两个案例共同说明：局部指标改善只有在类别分布、综合 mAP 和复核成本同时可接受时，才具有系统价值。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3C4E1-F299-4062-A9DF-9255F837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39FB-8532-4A18-8317-89F330A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AEF60-2D61-4963-88E0-D950AE8C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16397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AEEE1-9350-4568-A597-D3066851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10 · 反馈闭环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C40B5-6382-43BB-B204-BE65D82B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失败不是终点，而是把研究策略改得更可复核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04833-4F84-474E-8E39-394B7B96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项目实践进展体现为：发现问题、固定变量、做对照、回到典型样本。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3463-6F92-4691-9C64-4549A1D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07B21-AECC-427D-A3A7-D9D37E1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FC9B5-5F99-446E-8147-7639272E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失败现象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D6733-182D-4B1B-97B7-601A30B6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验证曲线波动 / 召回下降 / 类别失衡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DBFE8-FA17-4648-A81E-1F8C543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3B45F-1FD9-4C4B-9845-B06DCF76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定位原因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9F556-7E77-4789-9986-B3E26ECA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检查数据、标签、尺度、阈值和训练轮次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5C6DD-4296-4274-B700-C85E7E1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6B244-3C38-4E21-AC0C-E6834B9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固定变量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C5E7E-4486-4B8A-B5A1-957AAC51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统一划分、输入尺寸、随机种子和评估脚本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77139-D675-46AF-AC93-70631A2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ACE7B-9A72-4C77-AFDF-B8D6E98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单模块消融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7B164-08CA-4C70-A63F-BBD2205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一次只改一个结构或损失函数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F311A-4112-49BD-9029-4E1BCF9A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41747-6899-4E31-B2CE-2277DDC8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05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多指标复核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03FD2-E98D-4379-8E09-6A1C3AE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57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P / R / F1 / mAP50-95 / 延迟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2E489-6344-483D-B290-9266E343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3429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F007E-1D2F-4F46-A444-E8588BD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05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典型样本复核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EC840-6641-48E7-915D-703D992C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57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rPr>
              <a:t>确认框、漏检和误检是否符合影像特点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310A8-C007-4B92-8501-79C51DE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C9FA4-8EEC-452C-AAA8-A3797E74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答辩结论：当前研究不把“更复杂”当成“更有效”，而把可复现、可解释、可部署作为同等重要的选择标准。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EF0C4-92C6-46C5-883A-58B43699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反馈闭环最终落到系统验收：同一张图可以重新推理、对比不同模型，并回到结构化字段核对类别、置信度与坐标。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9BFA2-E029-4B20-BD9C-7C06B8D8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0F8D6-0E17-497D-B390-3D26A3B4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4D0D0-EDB1-4F77-8FBD-6AFA5C7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4422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2BFF3-D868-455A-AB80-BC013FD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B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76ECE-7400-4016-A363-14F502E4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03 · 最终模型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9A8E5-AB7E-4C2C-87D0-85D7C548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最终模型与实验结论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B9E14-6DAB-432C-B6FF-FB97ADF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E793C-83B2-4FE2-A639-91B399AA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从反馈闭环进入模型定型：看清优势，也把边界说清楚。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4ECF8-D301-437F-A336-96E7E915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 · 科教融汇实践中期检查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21141-11C3-4A20-B99C-AAC6A68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3536-C78E-413E-B4D0-7DF8ADB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52D93-8D65-4F79-8E4E-5F2ECA32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844515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86292-06EC-4C51-9850-1113A64F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11 · 最终模型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6025E-5EE7-4E71-86B8-6AAF25B7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最终三模型：均衡、高精度与高召回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C0D2D-A347-449C-886A-C6A1EB4C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不再把两个模型都称为“高精度”：三类角色分别由结果数据中最能代表该需求的模型承担。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998B7-F3F3-4D0F-BCD4-C0FDC31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56455d29e04c4e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7429500" y="1752600"/>
          <a:ext xmlns:a="http://schemas.openxmlformats.org/drawingml/2006/main" cx="4210050" cy="2266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581150"/>
                <a:gridCol w="1295400"/>
              </a:tblGrid>
              <a:tr h="5667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领先数据证据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适合的需求</a:t>
                      </a:r>
                    </a:p>
                  </a:txBody>
                  <a:tcPr marL="91440" marR="91440" marT="45720" marB="45720" anchor="ctr">
                    <a:solidFill>
                      <a:srgbClr val="0B2D45"/>
                    </a:solidFill>
                  </a:tcPr>
                </a:tc>
              </a:tr>
              <a:tr h="5667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均衡型 YOLOv8m + PIoU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 / Recall = 0.6685 / 0.6653</a:t>
                      </a:r>
                    </a:p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mAP50-95 = 0.4256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常规检测与综合复核</a:t>
                      </a:r>
                    </a:p>
                  </a:txBody>
                  <a:tcPr marL="91440" marR="91440" marT="45720" marB="45720" anchor="ctr"/>
                </a:tc>
              </a:tr>
              <a:tr h="5667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高精度 YOLOv8n + CIoU-NWD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 = 0.7251</a:t>
                      </a:r>
                    </a:p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Caries mAP50-95 = 0.4226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误检成本较高的保守复核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5667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高召回 YOLOv8m + P2 High-Recall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= 0.6989</a:t>
                      </a:r>
                    </a:p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YOLOv8m baseline 五项指标均提升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初筛、小病灶优先、减少漏检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131C-BCDE-4C6E-BAC1-1F3BCC6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42100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2C83C-9A8F-41B2-992C-3F4835F2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7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7B2D"/>
                </a:solidFill>
                <a:latin typeface="Microsoft YaHei"/>
                <a:ea typeface="Microsoft YaHei"/>
                <a:cs typeface="Microsoft YaHei"/>
              </a:rPr>
              <a:t>使用建议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825C5-123E-49DF-8726-39F1036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均衡模型作为默认综合检测；高精度模型用于误检成本较高的保守精查；高召回率模型用于初筛和小病灶优先场景。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5CD29-1080-457D-AC85-413AD364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三类角色只表示对应指标与复核目标的侧重，不代表某一个模型在所有场景都全面胜出。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99A2E-B082-4826-9F08-2EDC9366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79EE7-EB18-4466-B34B-65FB256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BE8DA-83B7-49C6-B666-0B59B2E7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93997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4CA14-E5E6-413A-A11A-6C0279CF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12 · 训练曲线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9908A-8C44-4C66-8217-24D970A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三类模型训练曲线：均衡、精度与召回的取舍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E508E-A07D-4C3B-8246-E6F646E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曲线用于展示训练过程；最终角色以最佳 checkpoint 的验证记录和独立复核共同确定。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808CE-0549-470A-8C5F-8D2FEC41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885802fac4c84"/>
          <a:stretch xmlns:a="http://schemas.openxmlformats.org/drawingml/2006/main"/>
        </p:blipFill>
        <p:spPr>
          <a:xfrm xmlns:a="http://schemas.openxmlformats.org/drawingml/2006/main">
            <a:off x="552450" y="1977454"/>
            <a:ext cx="3429000" cy="1245742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ba9dfd9e241b0"/>
          <a:stretch xmlns:a="http://schemas.openxmlformats.org/drawingml/2006/main"/>
        </p:blipFill>
        <p:spPr>
          <a:xfrm xmlns:a="http://schemas.openxmlformats.org/drawingml/2006/main">
            <a:off x="4381500" y="1978120"/>
            <a:ext cx="3429000" cy="124441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210550" y="1695450"/>
          <a:ext xmlns:a="http://schemas.openxmlformats.org/drawingml/2006/main" cx="3429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669a7f8c2444a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B1F35-9F94-46AA-9BD5-7D7FD560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4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均衡 m+PIoU：P/R 接近，差值 0.0032，mAP50-95=0.4256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6B020-08B6-4347-A52E-B492922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高精度 n+CIoU-NWD：独立验证 Precision=0.7251，误检更少但召回保守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60608-E2C0-4E39-99EC-55529BE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639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高召回 m+P2 High-Recall：Recall=0.6989，相对 m baseline 五项指标均提升，适合小病灶初筛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52450" y="4476750"/>
          <a:ext xmlns:a="http://schemas.openxmlformats.org/drawingml/2006/main" cx="11087100" cy="1143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1143000"/>
                <a:gridCol w="4095750"/>
                <a:gridCol w="3848100"/>
              </a:tblGrid>
              <a:tr h="285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 epoch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领先数据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使用侧重</a:t>
                      </a:r>
                    </a:p>
                  </a:txBody>
                  <a:tcPr marL="91440" marR="91440" marT="45720" marB="45720" anchor="ctr">
                    <a:solidFill>
                      <a:srgbClr val="0FA7A0"/>
                    </a:solidFill>
                  </a:tcPr>
                </a:tc>
              </a:tr>
              <a:tr h="285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 + PIoU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P/R差0.0032；mAP50-95=0.426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均衡复核</a:t>
                      </a:r>
                    </a:p>
                  </a:txBody>
                  <a:tcPr marL="91440" marR="91440" marT="45720" marB="45720" anchor="ctr"/>
                </a:tc>
              </a:tr>
              <a:tr h="285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+ CIoU-NWD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独立验证 Precision=0.725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高精度复核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285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 + P2 High-Recall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Recall=0.699；五项指标均高于 m baseline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高召回初筛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A248-49C8-4FEE-98E5-09B4C960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曲线用于解释训练过程，表格用于解释最终取值；两者共同避免只凭某一轮峰值下结论。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251AC-D614-4D5A-960D-6B537A0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CD70-A5F1-4C5C-9E2C-7733BE5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62F4B-B9B8-4725-9BB8-22DD6CD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7923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F64B6-3E12-44AB-AEF7-812C950F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3C26A-BBA3-452F-B37D-710688A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04 · 系统演示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ED147-BDA8-4C44-9095-28E0025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系统落地与功能演示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4C27E-B765-4D7B-8ACF-5D89B97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7EA35-98CD-408B-8F65-A6369A9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训练结果进入页面后，才能被复核、对比、追溯并用于答辩展示。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B441-0D10-4372-8157-A7A7CBF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 · 科教融汇实践中期检查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C4632-E576-4908-A54E-9D9F8E0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2428B-0A6A-4ECC-AC25-FEB3011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4AD39-A2F0-456D-9566-A72EA4F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929176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F52884-3A40-4E83-A222-886EAAA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13 · 系统落地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84AE-0B30-4AE6-88F3-B6FF6F0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把模型能力转成检测闭环：上传、推理、结构化、复核、追溯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BECAE-BFE2-4F7D-9EEB-BDD69D4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中期成果边界限定为检测相关页面；智诊管家与报告中心进入下一阶段。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9CA83-3123-4CB7-A9F9-B1D37871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137CE-E10F-4843-846F-041C828E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1763-87D9-43DC-A3FE-A0AA9FD8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5669B-E896-43B2-88F7-7AEF932F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影像上传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E22C5-57BF-4A87-8053-D17B6366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单图 / 多图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A4BC4-05A1-49C3-9B38-AA60210D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15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0ACE9-761A-47CD-902C-816C751D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90255-8732-4B7F-9EB6-B160420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18367-AC3E-425D-AF9F-6B884DC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模型与阈值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8385-5118-47FB-BE48-BB02870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三种侧重点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258BF-9DEA-4339-A76D-0415488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15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235E5-9B6D-4B4C-BB9A-3938B80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0A709-468F-44B2-839E-5875C5CB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27662-D426-4688-88D0-4685A3C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YOLO 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81193-1499-474E-8833-0495C8A4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CPU 本地演示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3D73B-CA7C-410C-B479-952F57A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15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314A1-2A75-4E56-A135-0AC3561A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8CD1E-EB7C-4B3F-B4E9-9BF47E9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621BE-36AC-4AD9-9C63-159A917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4D2E3-EFF0-45AF-970C-3CC1BE53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类别 / 置信度 / 坐标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8031C-3324-4870-B739-A4EF467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15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DEFB4-2CC1-4D92-BCF1-26D873D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A8470-9877-46A4-86EE-3D0E0F7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55A03-C882-4553-BCC1-33D5F933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联动复核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9EFBD-D0C5-4F74-81E7-00D9CA20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原图与结果同步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AEF81-91A8-4DE8-B181-6CB2ED7C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215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2C301-2EFB-4532-8719-BE3EBBF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38375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75529-31DF-4A9E-B2B1-4F3ECA22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28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2793D-DADB-4B7F-B097-AE40FC96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622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D7BAC-44EC-41B3-8A45-FADFACB2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146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C9E6EF"/>
                </a:solidFill>
                <a:latin typeface="Microsoft YaHei"/>
                <a:ea typeface="Microsoft YaHei"/>
                <a:cs typeface="Microsoft YaHei"/>
              </a:rPr>
              <a:t>任务追溯与 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00D6C4-53FE-4C74-803B-3CD15B3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06096-EF4B-489C-A78C-7E51622C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112C04-8DCE-4CB3-9BDE-03FFDC2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已完成页面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151E2F-A3E0-4693-A8FA-1AB309A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牙病学习、首页概览、图像检测、多模型对比、批量检测、历史记录。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427B7C-E4B1-42E2-9ACB-EAA670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36195-5648-4D8A-9D63-AF0592B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926F4-B4FA-4599-82BE-0B99B184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本次展示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87C761-6423-4A0E-8735-1CD13567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4891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首页 + 三个检测模块的四部分结果视图；使用真实 test_134.png 与批量测试样本。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6AC052-8ADE-4A95-96B2-80C115D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42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F84AD0-7547-47D3-A2F6-682869DE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AD95D5-FA1A-4B61-8F1D-5D14191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1717A7-D81B-4164-AD1D-571EA3BC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306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模型结果只表达疑似区域；低置信度、重叠结构和空结果都需要人工复核。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02038B-CB5D-43CF-BCE6-0F9D2D49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页面设计把“模型推理”和“人工判断”分开：前者输出候选区域与结构化字段，后者负责确认是否值得进一步检查。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50FDE9-17B6-4D43-9729-BC87E69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592D80-8037-489E-822C-D7C8F7A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95E657-5C71-4DC0-BFD4-CEBB673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804797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DAB3E-77D5-4765-949F-D2F0441D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14 · 系统截图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41406-BCFA-4CED-8981-95469B2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牙病学习与首页概览：从知识边界到运行态势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494F-57F1-4EE0-8BDA-346EED6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截图来自项目实际启动后的页面；智诊管家与报告中心只保留在导航中，不作为本次完成成果展开。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20151-BD5B-406D-89D6-E0E54117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a1f7b595e4637"/>
          <a:stretch xmlns:a="http://schemas.openxmlformats.org/drawingml/2006/main"/>
        </p:blipFill>
        <p:spPr>
          <a:xfrm xmlns:a="http://schemas.openxmlformats.org/drawingml/2006/main">
            <a:off x="552450" y="1806178"/>
            <a:ext cx="5391150" cy="336946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de980fcd64007"/>
          <a:stretch xmlns:a="http://schemas.openxmlformats.org/drawingml/2006/main"/>
        </p:blipFill>
        <p:spPr>
          <a:xfrm xmlns:a="http://schemas.openxmlformats.org/drawingml/2006/main">
            <a:off x="6248400" y="1806178"/>
            <a:ext cx="5391150" cy="33694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B2ED1-6F22-4FD5-91FD-036ABA5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牙病学习：解释模型覆盖类别、影像线索、复核重点与就医边界。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12A5F-BC25-43B7-BFE6-FC968642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首页概览：展示模型状态、任务量、疑似区域、复核队列和快捷入口。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53B13-3968-4E55-8A46-B7786E6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这两页共同承担答辩中的“入口说明”：用户先了解任务范围，再进入检测页面查看可复核结果。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9269F-3101-48FF-ACE1-9CE1EE4B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A75CE-AAB2-4D68-A01A-FCB1D7F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03B60-C292-4F7F-A825-C3C43359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63691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65856-022C-4F4A-BAD3-CFC3801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15 · 单图检测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2B4ED-1981-4AC4-BC0E-09163D1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结果总览：一张 test_134.png 完成从原图到候选框的闭环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71944-B470-4569-80B5-CEA797BF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右侧同时呈现模型、检测框数量、置信度、推理耗时和复核建议。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AB888-7987-4FD3-B5CD-E8A64BA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1a998d3a4f23"/>
          <a:stretch xmlns:a="http://schemas.openxmlformats.org/drawingml/2006/main"/>
        </p:blipFill>
        <p:spPr>
          <a:xfrm xmlns:a="http://schemas.openxmlformats.org/drawingml/2006/main">
            <a:off x="2218670" y="1657350"/>
            <a:ext cx="775466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682D-A476-4A1F-BA81-D210D3F0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样本说明：test_134.png 为普通全景片，页面实际检测到 1 个“疑似龋坏（Caries）”候选区域，平均置信度约 0.658。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FC1D-5AE1-4A14-922A-6E955E3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9FE59-3141-4D4C-BFDE-09B6F33E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5A077-4D84-417C-B0A9-555785FF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03412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79283-7255-438B-8C5A-C98E5E72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16 · 单图检测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1AC40-9DEB-4DDC-A85C-81A41C9E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结构化结果：把“框”转成可复核的数据字段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0E713-7253-41CB-AB13-0BBB66CB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区域编号、中文类别、置信度、面积占比、坐标与复核建议可被后续报告和问答复用。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5E6BA-B437-47F2-BA1F-3D555EB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44ec58a944af"/>
          <a:stretch xmlns:a="http://schemas.openxmlformats.org/drawingml/2006/main"/>
        </p:blipFill>
        <p:spPr>
          <a:xfrm xmlns:a="http://schemas.openxmlformats.org/drawingml/2006/main">
            <a:off x="3022315" y="1657350"/>
            <a:ext cx="6147371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F51CA-1E87-49AD-8B95-B211277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11087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210D0-EC43-44A2-9E6D-63FC7AD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960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结构化输出是检测、智诊管家、报告中心共用的数据底座。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2781F-F0E3-46EF-968C-F2EE746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2B8CE-7681-4780-BD9E-01EEB8D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17359-2A51-4242-AAAE-2D6A8A3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359371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2A23A-58D2-49F8-AE9E-8B269008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17 · 单图检测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DF4BC-F969-44CD-B1D9-974A6BE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联动复核与检测报告：结果既能看，也能追溯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2EB69-91E5-48AC-8F91-4FCD4527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左侧证明原图与结果框同步定位，右侧展示单图报告生成与导出入口。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E9B9B-7DB8-49CF-B9F5-4D701A3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8b7093ef479b"/>
          <a:stretch xmlns:a="http://schemas.openxmlformats.org/drawingml/2006/main"/>
        </p:blipFill>
        <p:spPr>
          <a:xfrm xmlns:a="http://schemas.openxmlformats.org/drawingml/2006/main">
            <a:off x="552450" y="2142050"/>
            <a:ext cx="5391150" cy="293584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937b164f24088"/>
          <a:stretch xmlns:a="http://schemas.openxmlformats.org/drawingml/2006/main"/>
        </p:blipFill>
        <p:spPr>
          <a:xfrm xmlns:a="http://schemas.openxmlformats.org/drawingml/2006/main">
            <a:off x="6248400" y="2528742"/>
            <a:ext cx="5391150" cy="216246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E86B-242A-464C-9707-E7A2B01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联动复核：按区域选择，原图局部与结果图局部并排显示。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537FE-2193-4711-A039-605072A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检测报告：包含模型版本、区域明细、复核优先级与导出按钮。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9918-5817-479C-9CE1-B546EAB2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联动复核解决“结果在哪里”，报告入口解决“结果如何留下”，两者共同支撑后续解释与归档。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65938-938F-4548-8D9F-3FE8371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11FF8-5306-4B78-920D-F7C5E60F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E28A-E95B-410C-9DF1-971E98B5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425428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0BAFC-A6B4-40B9-846A-ACBE958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18 · 多模型对比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D85FD-1B02-4EDD-ACAF-530EDAB0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三模型对比：同一张影像，观察一致性与分歧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C086-AC15-4BB8-BF85-9710CF5F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三种模型实际完成推理；对比页把速度、定位优先级和结果差异放到同一张表中。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EFEB9-2D21-4F55-BB43-32C746C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dad7466ba4e16"/>
          <a:stretch xmlns:a="http://schemas.openxmlformats.org/drawingml/2006/main"/>
        </p:blipFill>
        <p:spPr>
          <a:xfrm xmlns:a="http://schemas.openxmlformats.org/drawingml/2006/main">
            <a:off x="4025992" y="1657350"/>
            <a:ext cx="4140016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089EC-9CE3-4846-BE75-677F60EB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真实输出：均衡型 m+PIoU、高精度 n+CIoU-NWD、高召回率 m+P2 High-Recall 三类模型均可进入复核；同一候选区域的置信度与推荐侧重不同。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1CE66-A9D1-4EC3-B46F-C05F27D4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说明：模型页截图中的三张卡片对应当前三模型；分析页以结构化表格作为本次答辩的主要证据。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1F1AB-AF71-4FA3-A696-A49046E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对比的意义在于让复核人员能够根据任务优先级选择模型，而不是把三个模型简单排序。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14156-4A0A-470C-B2CD-59E3307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5A8E9-63B0-452E-9DD1-77F7B4B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C68EE-D5C2-4F1A-B009-F73F2F3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01690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2FADD-2653-42DA-AF64-998B07E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19 · 批量与追溯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033B1-08C3-4448-B135-B280406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批量检测与历史记录：从单个样本走向任务级复核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84CB2-925D-44E9-87D8-F327A3B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批量页面保留成功/失败统计、复核等级和逐图明细；历史页用于回看检测证据。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07DF7-1DF4-49CB-8E63-4295ED8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ccd367d99429c"/>
          <a:stretch xmlns:a="http://schemas.openxmlformats.org/drawingml/2006/main"/>
        </p:blipFill>
        <p:spPr>
          <a:xfrm xmlns:a="http://schemas.openxmlformats.org/drawingml/2006/main">
            <a:off x="1043293" y="1657350"/>
            <a:ext cx="4409464" cy="39243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deb30c18848b3"/>
          <a:stretch xmlns:a="http://schemas.openxmlformats.org/drawingml/2006/main"/>
        </p:blipFill>
        <p:spPr>
          <a:xfrm xmlns:a="http://schemas.openxmlformats.org/drawingml/2006/main">
            <a:off x="6248400" y="1934766"/>
            <a:ext cx="5391150" cy="33694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8587-799E-48C0-A2FD-DB19F46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8317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批量样本：test_134.png、test_170.png、test_10.png、test_77.png，4 张全部处理成功。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CD6BF-3AE0-4441-A558-4EBD2259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7215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388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历史记录：保留单图、批量和多模型任务的缩略图与统计，支撑后续报告与错误案例库。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262A4-101E-49C2-B92F-02C0918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D45"/>
                </a:solidFill>
                <a:latin typeface="Microsoft YaHei"/>
                <a:ea typeface="Microsoft YaHei"/>
                <a:cs typeface="Microsoft YaHei"/>
              </a:rPr>
              <a:t>批量与历史功能把一次演示扩展为可追溯任务，便于复盘失败样本并形成后续回归测试集。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D6E2C-6006-436C-BFCA-15277D1E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C4796-48E2-47B4-9037-55C5989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9052E-2029-4FAB-A2A1-1747FC19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719840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A1620-5BBA-4681-AA06-0A687FD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92C84-43A0-4F64-A369-E3617564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05 · 答辩收束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B69FB-35BA-4D1F-8BBA-6117F751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下一步计划与答辩总结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1E1E7-7B3B-4AFC-98A3-DDFD4EC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9D72A-01F8-4D77-B3F3-2D8A9C34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检测闭环已经可运行，下一阶段把结果转化为解释、报告与实时问答。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C478B-0613-45B0-82F7-E57268C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 · 科教融汇实践中期检查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A289-30E5-4D5D-81B9-14376B6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82B2E-73D6-4428-A70B-B286D7E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05427-C5AC-4AD5-A787-C8168F52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751263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7E018-7ADB-4271-8076-E14672BE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20 · 下一步与总结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9A71C-4A7A-4502-B6EB-64B08BF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下一阶段：从“能够检测”走向“能够解释、复核、留存”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ABBFB-3AE0-4B19-B53E-457AA8B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以结构化检测结果为总线，连接智诊管家、报告中心和实时提问。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AAA99-3EB3-42FC-8EB6-64174DA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F6E31-D3E1-4815-A3AE-C3B0CFC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524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A6C45-E240-4AB3-8930-EA72EDF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0E51E-C889-47AC-ACEE-F95C4BEA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智诊管家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BF4BC-1B99-4383-84C7-ACBDCE0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08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围绕候选区域、类别、置信度和复核建议解释结果；区分“模型提示”“影像现象”和“医生诊断”，不把疑似输出夸大为确诊。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F00C-A386-40E3-A2FA-893E831B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524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67B3E-7199-480B-9E2D-E595692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E013A-8788-4373-8777-7A6145B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报告中心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3963D-3FCD-4D0F-96B2-A650230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08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支持单图、批量和多模型报告预览、DOCX/PDF 导出、再次打开；自动引用结构化字段，保留原图、结果图、阈值、耗时与免责声明。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21716-DBAB-4F43-9E2E-F801EA1A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524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D6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32C25-4C76-4344-AB1D-0386287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B2D"/>
          </a:solidFill>
          <a:ln xmlns:a="http://schemas.openxmlformats.org/drawingml/2006/main" w="0">
            <a:solidFill>
              <a:srgbClr val="E97B2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D1525-6265-455D-A603-1BF9919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实时提问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716AB-9D21-409A-B6D6-CA993E01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179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框选检测页文字或区域说明，携带当前检测上下文跳转智诊管家；对超出系统能力的问题给出专业复核提示。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4F778-7C2E-4E53-911A-1F0BC5DD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收口任务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5DBE7-919D-4B61-B67A-D4D5CC53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B209C-2E03-4C68-A3F1-FBB288F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统一模型、页面、问答与导出的结构化字段，补齐接口表和报告样例。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AC481-907D-4CDD-BAC8-ACC0106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59753-CA02-40AC-85BD-289C8BB0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继续 ROI / 切片、轻量注意力和损失函数实验，整理错误案例与固定回归样例。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FA801-BC27-495F-811C-47517B57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CFACC-A41A-4073-9CD6-7F7C705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补齐异常输入、批量失败、刷新恢复和报告版式检查，完善毕业设计材料。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A3BC1-5F4D-479C-B426-5A9D1ABC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45148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D45"/>
          </a:solidFill>
          <a:ln xmlns:a="http://schemas.openxmlformats.org/drawingml/2006/main" w="0">
            <a:solidFill>
              <a:srgbClr val="0B2D4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D71C6-0D2A-406E-AF87-3AF2B3B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F6F1B-0E6C-47C1-8A43-324F0881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128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研究方向明确，云端训练与实验复盘可复核，检测部分已形成可运行闭环。下一阶段的核心贡献是把一次推理结果转成可解释、可复核、可留存的系统证据链。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7E531-E1FE-47D0-BC14-1398AEC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36B7A"/>
                </a:solidFill>
                <a:latin typeface="Microsoft YaHei"/>
                <a:ea typeface="Microsoft YaHei"/>
                <a:cs typeface="Microsoft YaHei"/>
              </a:rPr>
              <a:t>验收顺序建议：先确认检测结果，再检查结构化字段，最后验证问答解释与报告导出是否引用同一份数据。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81388-2A05-41DF-8D54-2377606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2E512-A856-415D-887C-4EEA883B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699B9A-6C95-4017-BD73-B90FB88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946629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DEF27-B25E-4807-BDBC-874843A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2E3C-7EB6-42CB-AA96-7D926DB2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AE8E1"/>
                </a:solidFill>
                <a:latin typeface="Microsoft YaHei"/>
                <a:ea typeface="Microsoft YaHei"/>
                <a:cs typeface="Microsoft YaHei"/>
              </a:rPr>
              <a:t>答辩收束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05194-EFC3-4BD7-AD0B-3EB51AFF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感谢老师聆听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0CAF-1B1B-4211-B767-47DE563A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1CA02-08FF-4E7A-8C98-719A47E9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7D7E2"/>
                </a:solidFill>
                <a:latin typeface="Microsoft YaHei"/>
                <a:ea typeface="Microsoft YaHei"/>
                <a:cs typeface="Microsoft YaHei"/>
              </a:rPr>
              <a:t>望老师指导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0FED3-087E-42CF-B9CC-43078A76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89849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基于 YOLO 的牙齿病变识别系统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8FA8B8"/>
                </a:solidFill>
                <a:latin typeface="Microsoft YaHei"/>
                <a:ea typeface="Microsoft YaHei"/>
                <a:cs typeface="Microsoft YaHei"/>
              </a:rPr>
              <a:t>张亮 · 2026 年 10 月 9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4462-C1BC-4AF2-A20B-B62A1F02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A"/>
          </a:solidFill>
          <a:ln xmlns:a="http://schemas.openxmlformats.org/drawingml/2006/main" w="0">
            <a:solidFill>
              <a:srgbClr val="D6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DBA1B-A656-4320-BC24-95D1BC1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647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科教融汇实践中期检查 · 张亮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737BD-C5EB-45B6-AD7C-9444244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00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A7A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46789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2026-09-30T08:31:46.6750000Z</dcterms:created>
  <dcterms:modified xsi:type="dcterms:W3CDTF">2026-09-30T08:31:46.6750000Z</dcterms:modified>
</coreProperties>
</file>